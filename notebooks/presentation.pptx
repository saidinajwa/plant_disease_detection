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1F"/>
                </a:solidFill>
                <a:latin typeface="Arial"/>
              </a:rPr>
              <a:t>Classes par plante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C9DFA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Tomate</c:v>
                </c:pt>
                <c:pt idx="1">
                  <c:v>Pomme de terre</c:v>
                </c:pt>
                <c:pt idx="2">
                  <c:v>Poivron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7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869680" y="91440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325880"/>
            <a:ext cx="1005840" cy="10058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581912"/>
            <a:ext cx="493776" cy="4937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7BC62"/>
                </a:solidFill>
              </a:rPr>
              <a:t>DEEP LEARNING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22960" y="288036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Maladies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Plantes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6868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BC8"/>
                </a:solidFill>
              </a:rPr>
              <a:t>Classification d'images par Transfer Learning sur le dataset PlantVillage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68680" y="5212080"/>
            <a:ext cx="310896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9A"/>
                </a:solidFill>
              </a:rPr>
              <a:t>Module Deep Learning  ·  Encadré par M. Abdallah Khemais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 &amp; Objectif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5F2D"/>
                </a:solidFill>
              </a:rPr>
              <a:t>Le problème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1B2A1F"/>
                </a:solidFill>
              </a:rPr>
              <a:t>Les maladies des feuilles réduisent fortement les rendements agricoles. Leur diagnostic manuel est lent, coûteux et demande une expertise rare.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5F2D"/>
                </a:solidFill>
              </a:rPr>
              <a:t>Notre objectif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A1F"/>
                </a:solidFill>
              </a:rPr>
              <a:t>Construire un système qui, à partir d'une simple photo de feuille, identifie automatiquement la plante, son état et la maladie — avec un score de confiance.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766560" y="1417320"/>
            <a:ext cx="4846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766560" y="141732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1709928"/>
            <a:ext cx="512064" cy="512064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18379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1F"/>
                </a:solidFill>
              </a:rPr>
              <a:t>Type de plante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D"/>
                </a:solidFill>
              </a:rPr>
              <a:t>Tomate · Poivron · Pomme de terre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766560" y="2697480"/>
            <a:ext cx="4846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66560" y="269748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0"/>
          <p:cNvSpPr/>
          <p:nvPr/>
        </p:nvSpPr>
        <p:spPr>
          <a:xfrm>
            <a:off x="7040880" y="2990088"/>
            <a:ext cx="512064" cy="512064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31181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1F"/>
                </a:solidFill>
              </a:rPr>
              <a:t>État de santé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772400" y="3264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D"/>
                </a:solidFill>
              </a:rPr>
              <a:t>Saine ou malade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766560" y="3977640"/>
            <a:ext cx="4846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3977640"/>
            <a:ext cx="9144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Shape 15"/>
          <p:cNvSpPr/>
          <p:nvPr/>
        </p:nvSpPr>
        <p:spPr>
          <a:xfrm>
            <a:off x="7040880" y="4270248"/>
            <a:ext cx="512064" cy="512064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43982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1F"/>
                </a:solidFill>
              </a:rPr>
              <a:t>Maladie + confiance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0" y="4544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5D"/>
                </a:solidFill>
              </a:rPr>
              <a:t>Ex : Early Blight — 97 %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Jeu de Données — PlantVillage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103120" cy="1371600"/>
          </a:xfrm>
          <a:prstGeom prst="rect">
            <a:avLst/>
          </a:prstGeom>
          <a:solidFill>
            <a:srgbClr val="1F3D2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5727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20 638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BC8"/>
                </a:solidFill>
              </a:rPr>
              <a:t>images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80360" y="1463040"/>
            <a:ext cx="2103120" cy="1371600"/>
          </a:xfrm>
          <a:prstGeom prst="rect">
            <a:avLst/>
          </a:prstGeom>
          <a:solidFill>
            <a:srgbClr val="1F3D2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80360" y="15727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28803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BC8"/>
                </a:solidFill>
              </a:rPr>
              <a:t>classes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12080" y="1463040"/>
            <a:ext cx="2103120" cy="1371600"/>
          </a:xfrm>
          <a:prstGeom prst="rect">
            <a:avLst/>
          </a:prstGeom>
          <a:solidFill>
            <a:srgbClr val="1F3D2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12080" y="15727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212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BC8"/>
                </a:solidFill>
              </a:rPr>
              <a:t>types de plantes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063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D"/>
                </a:solidFill>
              </a:rPr>
              <a:t>Découpage stratifié : 70 % entraînement · 15 % validation · 15 % 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Répartition des classes par plante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3931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Exemples de maladies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Tomate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Early/Late Blight, Septoria, Mosaic Virus…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Pomme de terre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Early Blight, Late Blight, saine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Poivron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1F"/>
                          </a:solidFill>
                        </a:rPr>
                        <a:t>Bacterial Spot, saine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Chart 0" descr=""/>
          <p:cNvGraphicFramePr/>
          <p:nvPr/>
        </p:nvGraphicFramePr>
        <p:xfrm>
          <a:off x="7955280" y="1417320"/>
          <a:ext cx="3931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Deep Learning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224028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92708" y="24688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261518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1F"/>
                </a:solidFill>
              </a:rPr>
              <a:t>Image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2648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Photo de feuille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224×224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3154680"/>
            <a:ext cx="201168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423160" y="224028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948940" y="24688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244" y="261518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2316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1F"/>
                </a:solidFill>
              </a:rPr>
              <a:t>Prétraitement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468880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Lecture tf.data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+ split stratifié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3154680"/>
            <a:ext cx="201168" cy="20116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279392" y="224028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805172" y="24688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1476" y="2615184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279392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1F"/>
                </a:solidFill>
              </a:rPr>
              <a:t>Augmentation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325112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Flip, rotation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zoom, contraste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744" y="3154680"/>
            <a:ext cx="201168" cy="20116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135624" y="224028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6661404" y="24688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708" y="2615184"/>
            <a:ext cx="347472" cy="34747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135624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1F"/>
                </a:solidFill>
              </a:rPr>
              <a:t>Modèle CNN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6181344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EfficientNet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/ ResNet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8976" y="3154680"/>
            <a:ext cx="201168" cy="201168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7991856" y="224028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8517636" y="24688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3940" y="2615184"/>
            <a:ext cx="347472" cy="34747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991856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1F"/>
                </a:solidFill>
              </a:rPr>
              <a:t>15 probabilités</a:t>
            </a:r>
            <a:endParaRPr lang="en-US" sz="1400" dirty="0"/>
          </a:p>
        </p:txBody>
      </p:sp>
      <p:sp>
        <p:nvSpPr>
          <p:cNvPr id="33" name="Text 21"/>
          <p:cNvSpPr/>
          <p:nvPr/>
        </p:nvSpPr>
        <p:spPr>
          <a:xfrm>
            <a:off x="8037576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Softmax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Σ = 100 %</a:t>
            </a:r>
            <a:endParaRPr lang="en-US" sz="11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5208" y="3154680"/>
            <a:ext cx="201168" cy="20116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9848088" y="224028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3"/>
          <p:cNvSpPr/>
          <p:nvPr/>
        </p:nvSpPr>
        <p:spPr>
          <a:xfrm>
            <a:off x="10373868" y="2468880"/>
            <a:ext cx="640080" cy="6400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0172" y="2615184"/>
            <a:ext cx="347472" cy="34747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848088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1F"/>
                </a:solidFill>
              </a:rPr>
              <a:t>Diagnostic</a:t>
            </a:r>
            <a:endParaRPr lang="en-US" sz="1400" dirty="0"/>
          </a:p>
        </p:txBody>
      </p:sp>
      <p:sp>
        <p:nvSpPr>
          <p:cNvPr id="39" name="Text 25"/>
          <p:cNvSpPr/>
          <p:nvPr/>
        </p:nvSpPr>
        <p:spPr>
          <a:xfrm>
            <a:off x="9893808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Classe + score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A6B5D"/>
                </a:solidFill>
              </a:rPr>
              <a:t>de confiance</a:t>
            </a:r>
            <a:endParaRPr lang="en-US" sz="1100" dirty="0"/>
          </a:p>
        </p:txBody>
      </p:sp>
      <p:sp>
        <p:nvSpPr>
          <p:cNvPr id="40" name="Text 26"/>
          <p:cNvSpPr/>
          <p:nvPr/>
        </p:nvSpPr>
        <p:spPr>
          <a:xfrm>
            <a:off x="566928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5D"/>
                </a:solidFill>
              </a:rPr>
              <a:t>De la photo brute à la prédiction finale, en une seule étape de bout en bout.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Modèle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</a:rPr>
              <a:t>Transfer Learning en 2 phases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1F"/>
                </a:solidFill>
              </a:rPr>
              <a:t>Phase 1 — Tête seule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5A6B5D"/>
                </a:solidFill>
              </a:rPr>
              <a:t>Base pré-entraînée (ImageNet) gelée. On entraîne uniquement la nouvelle tête.  lr = 1e-3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1F"/>
                </a:solidFill>
              </a:rPr>
              <a:t>Phase 2 — Fine-tuning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5A6B5D"/>
                </a:solidFill>
              </a:rPr>
              <a:t>Base dégelée et ré-entraînée finement.  lr = 1e-5 (100× plus petit).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1F"/>
                </a:solidFill>
              </a:rPr>
              <a:t>Régularisation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5D"/>
                </a:solidFill>
              </a:rPr>
              <a:t>Data augmentation · Dropout · BatchNorm · Label Smoothing · EarlyStopping · ReduceLROnPlateau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</a:rPr>
              <a:t>Tête de classification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0" y="1920240"/>
            <a:ext cx="4754880" cy="457200"/>
          </a:xfrm>
          <a:prstGeom prst="rect">
            <a:avLst/>
          </a:prstGeom>
          <a:solidFill>
            <a:srgbClr val="1F3D2B"/>
          </a:solidFill>
          <a:ln w="12700">
            <a:solidFill>
              <a:srgbClr val="DDE6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EfficientNet / ResNet (base gelée)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0" y="23408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0" y="2487168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1F"/>
                </a:solidFill>
              </a:rPr>
              <a:t>GlobalAveragePooling2D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0" y="29077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58000" y="3054096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30540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1F"/>
                </a:solidFill>
              </a:rPr>
              <a:t>BatchNorm → Dropout(0.4)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0" y="3474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0" y="3621024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36210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1F"/>
                </a:solidFill>
              </a:rPr>
              <a:t>Dense(256, swish)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858000" y="40416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58000" y="4187952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1F"/>
                </a:solidFill>
              </a:rPr>
              <a:t>BatchNorm → Dropout(0.3)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858000" y="46085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58000" y="4754880"/>
            <a:ext cx="475488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DDE6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Dense(15, softmax)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 des Modèles &amp; Évaluation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2880360" cy="1097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F"/>
                </a:solidFill>
              </a:rPr>
              <a:t>EfficientNetB0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</a:rPr>
              <a:t>~5,3 M paramètres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5D"/>
                </a:solidFill>
              </a:rPr>
              <a:t>Léger, rapide, idéal pour le déploiement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11880" y="1463040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1463040"/>
            <a:ext cx="288036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F"/>
                </a:solidFill>
              </a:rPr>
              <a:t>ResNet50V2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947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</a:rPr>
              <a:t>~25,6 M paramètres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79476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5D"/>
                </a:solidFill>
              </a:rPr>
              <a:t>Très robuste, valeur de référence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5943600" cy="640080"/>
          </a:xfrm>
          <a:prstGeom prst="rect">
            <a:avLst/>
          </a:prstGeom>
          <a:solidFill>
            <a:srgbClr val="1F3D2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033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35204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 meilleur des deux (accuracy test) est déployé automatiquement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7665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Métriques d'évaluation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766560" y="196596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6"/>
          <p:cNvSpPr/>
          <p:nvPr/>
        </p:nvSpPr>
        <p:spPr>
          <a:xfrm>
            <a:off x="70866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F"/>
                </a:solidFill>
              </a:rPr>
              <a:t>Accuracy  </a:t>
            </a:r>
            <a:pPr indent="0" marL="0">
              <a:buNone/>
            </a:pPr>
            <a:r>
              <a:rPr lang="en-US" sz="1200" dirty="0">
                <a:solidFill>
                  <a:srgbClr val="5A6B5D"/>
                </a:solidFill>
              </a:rPr>
              <a:t>— précision globale sur le test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766560" y="2532888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18"/>
          <p:cNvSpPr/>
          <p:nvPr/>
        </p:nvSpPr>
        <p:spPr>
          <a:xfrm>
            <a:off x="7086600" y="2487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F"/>
                </a:solidFill>
              </a:rPr>
              <a:t>F1-score (macro)  </a:t>
            </a:r>
            <a:pPr indent="0" marL="0">
              <a:buNone/>
            </a:pPr>
            <a:r>
              <a:rPr lang="en-US" sz="1200" dirty="0">
                <a:solidFill>
                  <a:srgbClr val="5A6B5D"/>
                </a:solidFill>
              </a:rPr>
              <a:t>— équilibre precision / recall par classe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766560" y="309981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0"/>
          <p:cNvSpPr/>
          <p:nvPr/>
        </p:nvSpPr>
        <p:spPr>
          <a:xfrm>
            <a:off x="7086600" y="30540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F"/>
                </a:solidFill>
              </a:rPr>
              <a:t>Matrice de confusion  </a:t>
            </a:r>
            <a:pPr indent="0" marL="0">
              <a:buNone/>
            </a:pPr>
            <a:r>
              <a:rPr lang="en-US" sz="1200" dirty="0">
                <a:solidFill>
                  <a:srgbClr val="5A6B5D"/>
                </a:solidFill>
              </a:rPr>
              <a:t>— erreurs classe par classe (15×15)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766560" y="3666744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2"/>
          <p:cNvSpPr/>
          <p:nvPr/>
        </p:nvSpPr>
        <p:spPr>
          <a:xfrm>
            <a:off x="7086600" y="36210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F"/>
                </a:solidFill>
              </a:rPr>
              <a:t>Courbes ROC / AUC  </a:t>
            </a:r>
            <a:pPr indent="0" marL="0">
              <a:buNone/>
            </a:pPr>
            <a:r>
              <a:rPr lang="en-US" sz="1200" dirty="0">
                <a:solidFill>
                  <a:srgbClr val="5A6B5D"/>
                </a:solidFill>
              </a:rPr>
              <a:t>— qualité de séparation par classe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766560" y="4233672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4"/>
          <p:cNvSpPr/>
          <p:nvPr/>
        </p:nvSpPr>
        <p:spPr>
          <a:xfrm>
            <a:off x="7086600" y="4187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F"/>
                </a:solidFill>
              </a:rPr>
              <a:t>Kappa de Cohen  </a:t>
            </a:r>
            <a:pPr indent="0" marL="0">
              <a:buNone/>
            </a:pPr>
            <a:r>
              <a:rPr lang="en-US" sz="1200" dirty="0">
                <a:solidFill>
                  <a:srgbClr val="5A6B5D"/>
                </a:solidFill>
              </a:rPr>
              <a:t>— accord corrigé du hasard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76656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5D"/>
                </a:solidFill>
              </a:rPr>
              <a:t>Chiffres finaux à reporter depuis le notebook après ré-exécution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— Interface Gradio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F2D"/>
                </a:solidFill>
              </a:rPr>
              <a:t>Application web de test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1B2A1F"/>
                </a:solidFill>
              </a:rPr>
              <a:t>1.  L'utilisateur charge une photo de feuille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1B2A1F"/>
                </a:solidFill>
              </a:rPr>
              <a:t>2.  Le modèle calcule les 15 probabilités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1B2A1F"/>
                </a:solidFill>
              </a:rPr>
              <a:t>3.  L'interface affiche le diagnostic complet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1F"/>
                </a:solidFill>
              </a:rPr>
              <a:t>4.  Alerte si la confiance est faible (&lt; 70 %)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6B5D"/>
                </a:solidFill>
              </a:rPr>
              <a:t>Modèle chargé une seule fois → aucune ré-exécution de l'entraînement pour tester.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0" y="1417320"/>
            <a:ext cx="50292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6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417320"/>
            <a:ext cx="5029200" cy="566928"/>
          </a:xfrm>
          <a:prstGeom prst="rect">
            <a:avLst/>
          </a:prstGeom>
          <a:solidFill>
            <a:srgbClr val="1F3D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727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4173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Détection de Maladies des Plantes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858000" y="2194560"/>
            <a:ext cx="2011680" cy="1554480"/>
          </a:xfrm>
          <a:prstGeom prst="rect">
            <a:avLst/>
          </a:prstGeom>
          <a:solidFill>
            <a:srgbClr val="EAF0E4"/>
          </a:solidFill>
          <a:ln w="12700">
            <a:solidFill>
              <a:srgbClr val="97BC62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7432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D"/>
                </a:solidFill>
              </a:rPr>
              <a:t>Votre photo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098280" y="22860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1F"/>
                </a:solidFill>
              </a:rPr>
              <a:t>Plante 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1F"/>
                </a:solidFill>
              </a:rPr>
              <a:t>Tomate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1F"/>
                </a:solidFill>
              </a:rPr>
              <a:t>État 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482E"/>
                </a:solidFill>
              </a:rPr>
              <a:t>Malade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1F"/>
                </a:solidFill>
              </a:rPr>
              <a:t>Maladie 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1F"/>
                </a:solidFill>
              </a:rPr>
              <a:t>Early Blight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1F"/>
                </a:solidFill>
              </a:rPr>
              <a:t>Confiance :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5F2D"/>
                </a:solidFill>
              </a:rPr>
              <a:t>97,3 %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8580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Top prédiction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58000" y="4251960"/>
            <a:ext cx="4480560" cy="320040"/>
          </a:xfrm>
          <a:prstGeom prst="rect">
            <a:avLst/>
          </a:prstGeom>
          <a:solidFill>
            <a:srgbClr val="EAF0E4"/>
          </a:solidFill>
          <a:ln/>
        </p:spPr>
      </p:sp>
      <p:sp>
        <p:nvSpPr>
          <p:cNvPr id="16" name="Shape 11"/>
          <p:cNvSpPr/>
          <p:nvPr/>
        </p:nvSpPr>
        <p:spPr>
          <a:xfrm>
            <a:off x="6858000" y="4251960"/>
            <a:ext cx="4361688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2"/>
          <p:cNvSpPr/>
          <p:nvPr/>
        </p:nvSpPr>
        <p:spPr>
          <a:xfrm>
            <a:off x="694944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Tomato — Early Blight  ·  97,3 %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858000" y="4709160"/>
            <a:ext cx="4480560" cy="228600"/>
          </a:xfrm>
          <a:prstGeom prst="rect">
            <a:avLst/>
          </a:prstGeom>
          <a:solidFill>
            <a:srgbClr val="EAF0E4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0" y="4709160"/>
            <a:ext cx="548640" cy="228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Text 15"/>
          <p:cNvSpPr/>
          <p:nvPr/>
        </p:nvSpPr>
        <p:spPr>
          <a:xfrm>
            <a:off x="6949440" y="4709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1F"/>
                </a:solidFill>
              </a:rPr>
              <a:t>Tomato — Late Blight  ·  1,2 %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85800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</a:rPr>
              <a:t>Diagnostic fiable (confiance &gt; 90 %)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9418320" y="4023360"/>
            <a:ext cx="329184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48640"/>
            <a:ext cx="777240" cy="7772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749808"/>
            <a:ext cx="374904" cy="3749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5486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Ce que nous avons réalisé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21031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Pipeline complet de bout en bout sur 15 classes réelles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Comparaison de deux architectures par transfer learning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Fine-tuning en 2 phases + régularisation avancée</a:t>
            </a:r>
            <a:endParaRPr lang="en-US" sz="14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Déploiement opérationnel via une interface Gradio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Perspectives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0" y="21031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Étendre à d'autres cultures et maladies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Application mobile pour usage en plein champ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Détection d'objets (localiser la zone malade)</a:t>
            </a:r>
            <a:endParaRPr lang="en-US" sz="14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E4ECDD"/>
                </a:solidFill>
              </a:rPr>
              <a:t>Hébergement permanent (Hugging Face Spaces)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12700">
            <a:solidFill>
              <a:srgbClr val="3C5A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 —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Maladies des Plantes</dc:title>
  <dc:subject>PptxGenJS Presentation</dc:subject>
  <dc:creator>Projet Deep Learning</dc:creator>
  <cp:lastModifiedBy>Projet Deep Learning</cp:lastModifiedBy>
  <cp:revision>1</cp:revision>
  <dcterms:created xsi:type="dcterms:W3CDTF">2026-05-24T21:05:22Z</dcterms:created>
  <dcterms:modified xsi:type="dcterms:W3CDTF">2026-05-24T21:05:22Z</dcterms:modified>
</cp:coreProperties>
</file>